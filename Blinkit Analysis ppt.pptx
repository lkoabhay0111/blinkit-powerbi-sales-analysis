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D200"/>
    <a:srgbClr val="497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757612" y="84475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</a:t>
            </a:r>
            <a:r>
              <a:rPr lang="en-IN" sz="4000" dirty="0" err="1" smtClean="0">
                <a:latin typeface="Segoe UI Black" panose="020B0A02040204020203" pitchFamily="34" charset="0"/>
                <a:ea typeface="Segoe UI Black" panose="020B0A02040204020203" pitchFamily="34" charset="0"/>
              </a:rPr>
              <a:t>link</a:t>
            </a:r>
            <a:r>
              <a:rPr lang="en-IN" sz="4000" dirty="0" err="1" smtClean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 smtClean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 </a:t>
            </a:r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14981" y="11970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</a:t>
            </a:r>
            <a:r>
              <a:rPr lang="en-IN" sz="4000" dirty="0" err="1" smtClean="0">
                <a:latin typeface="Segoe UI Black" panose="020B0A02040204020203" pitchFamily="34" charset="0"/>
                <a:ea typeface="Segoe UI Black" panose="020B0A02040204020203" pitchFamily="34" charset="0"/>
              </a:rPr>
              <a:t>link</a:t>
            </a:r>
            <a:r>
              <a:rPr lang="en-IN" sz="4000" dirty="0" err="1" smtClean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0973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</a:t>
            </a:r>
            <a:r>
              <a:rPr lang="en-IN" sz="4000" dirty="0" err="1" smtClean="0">
                <a:latin typeface="Segoe UI Black" panose="020B0A02040204020203" pitchFamily="34" charset="0"/>
                <a:ea typeface="Segoe UI Black" panose="020B0A02040204020203" pitchFamily="34" charset="0"/>
              </a:rPr>
              <a:t>link</a:t>
            </a:r>
            <a:r>
              <a:rPr lang="en-IN" sz="4000" dirty="0" err="1" smtClean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pPr algn="ctr"/>
            <a:r>
              <a:rPr lang="en-IN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dirty="0">
              <a:solidFill>
                <a:schemeClr val="accent5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6295"/>
            <a:ext cx="10515600" cy="4351338"/>
          </a:xfrm>
          <a:solidFill>
            <a:srgbClr val="FFC000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Tools </a:t>
            </a:r>
            <a:r>
              <a:rPr lang="en-IN" sz="2400" b="1" dirty="0" smtClean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Used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  <a:p>
            <a:pPr marL="0" indent="0">
              <a:buNone/>
            </a:pPr>
            <a:endParaRPr lang="en-IN" sz="2400" b="1" dirty="0" smtClean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  <a:p>
            <a:pPr marL="0" indent="0">
              <a:buNone/>
            </a:pPr>
            <a:r>
              <a:rPr lang="en-IN" sz="1600" b="1" dirty="0">
                <a:latin typeface="Arial" panose="020B0604020202020204" pitchFamily="34" charset="0"/>
              </a:rPr>
              <a:t>1</a:t>
            </a:r>
            <a:r>
              <a:rPr lang="en-IN" sz="1600" b="1" dirty="0">
                <a:latin typeface="Arial" panose="020B0604020202020204" pitchFamily="34" charset="0"/>
              </a:rPr>
              <a:t>. </a:t>
            </a:r>
            <a:r>
              <a:rPr lang="en-IN" sz="1600" b="1" dirty="0" smtClean="0">
                <a:latin typeface="Arial" panose="020B0604020202020204" pitchFamily="34" charset="0"/>
              </a:rPr>
              <a:t>Power BI Desktop</a:t>
            </a:r>
            <a:endParaRPr lang="en-IN" sz="1600" b="1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600" b="1" dirty="0" smtClean="0">
                <a:latin typeface="Arial" panose="020B0604020202020204" pitchFamily="34" charset="0"/>
              </a:rPr>
              <a:t>2. </a:t>
            </a:r>
            <a:r>
              <a:rPr lang="en-IN" sz="1600" b="1" dirty="0"/>
              <a:t>Power </a:t>
            </a:r>
            <a:r>
              <a:rPr lang="en-IN" sz="1600" b="1" dirty="0" smtClean="0"/>
              <a:t>Query </a:t>
            </a:r>
            <a:r>
              <a:rPr lang="en-IN" sz="1600" dirty="0" smtClean="0"/>
              <a:t>(Data Cleaning)</a:t>
            </a:r>
          </a:p>
          <a:p>
            <a:pPr marL="0" indent="0">
              <a:buNone/>
            </a:pPr>
            <a:r>
              <a:rPr lang="en-IN" sz="1600" b="1" dirty="0" smtClean="0">
                <a:latin typeface="Arial" panose="020B0604020202020204" pitchFamily="34" charset="0"/>
              </a:rPr>
              <a:t>3. </a:t>
            </a:r>
            <a:r>
              <a:rPr lang="en-IN" sz="1600" b="1" dirty="0" smtClean="0"/>
              <a:t>DAX </a:t>
            </a:r>
            <a:r>
              <a:rPr lang="en-IN" sz="1600" dirty="0" smtClean="0"/>
              <a:t>(Basic Measures)</a:t>
            </a:r>
            <a:endParaRPr lang="en-IN" sz="16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600" b="1" dirty="0" smtClean="0">
                <a:latin typeface="Arial" panose="020B0604020202020204" pitchFamily="34" charset="0"/>
              </a:rPr>
              <a:t>4.</a:t>
            </a:r>
            <a:r>
              <a:rPr lang="en-IN" sz="1600" dirty="0"/>
              <a:t> </a:t>
            </a:r>
            <a:r>
              <a:rPr lang="en-IN" sz="1600" b="1" dirty="0"/>
              <a:t>Data </a:t>
            </a:r>
            <a:r>
              <a:rPr lang="en-IN" sz="1600" b="1" dirty="0" err="1"/>
              <a:t>Modeling</a:t>
            </a:r>
            <a:endParaRPr lang="en-IN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6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Key </a:t>
            </a:r>
            <a:r>
              <a:rPr lang="en-IN" sz="2400" b="1" dirty="0" smtClean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Insights</a:t>
            </a:r>
          </a:p>
          <a:p>
            <a:pPr marL="0" indent="0">
              <a:buNone/>
            </a:pPr>
            <a:endParaRPr lang="en-US" sz="2400" dirty="0" smtClean="0"/>
          </a:p>
          <a:p>
            <a:pPr marL="457200" indent="-457200">
              <a:buAutoNum type="arabicPeriod"/>
            </a:pPr>
            <a:r>
              <a:rPr lang="en-US" sz="2400" dirty="0" smtClean="0"/>
              <a:t>Tier </a:t>
            </a:r>
            <a:r>
              <a:rPr lang="en-US" sz="2400" dirty="0"/>
              <a:t>3 outlets generate the highest sales, while Tier 1 contributes the least</a:t>
            </a:r>
            <a:r>
              <a:rPr lang="en-US" sz="2400" dirty="0" smtClean="0"/>
              <a:t>.</a:t>
            </a:r>
            <a:endParaRPr lang="en-IN" sz="2400" dirty="0" smtClean="0"/>
          </a:p>
          <a:p>
            <a:pPr marL="457200" indent="-457200">
              <a:buAutoNum type="arabicPeriod"/>
            </a:pPr>
            <a:r>
              <a:rPr lang="en-US" sz="2400" dirty="0"/>
              <a:t>Low Fat items contribute more revenue than Regular items.</a:t>
            </a:r>
            <a:endParaRPr lang="en-IN" sz="2400" dirty="0"/>
          </a:p>
          <a:p>
            <a:pPr marL="457200" indent="-457200">
              <a:buAutoNum type="arabicPeriod"/>
            </a:pPr>
            <a:r>
              <a:rPr lang="en-US" sz="2400" dirty="0"/>
              <a:t>Supermarket Type 1 performs best in both sales and item volume.</a:t>
            </a:r>
            <a:endParaRPr lang="en-US" sz="2400" dirty="0" smtClean="0"/>
          </a:p>
          <a:p>
            <a:pPr marL="457200" indent="-457200">
              <a:buAutoNum type="arabicPeriod"/>
            </a:pPr>
            <a:r>
              <a:rPr lang="en-US" sz="2400" dirty="0"/>
              <a:t>Medium-sized outlets generate maximum revenue</a:t>
            </a:r>
            <a:r>
              <a:rPr lang="en-US" sz="2400" dirty="0" smtClean="0"/>
              <a:t>.</a:t>
            </a:r>
          </a:p>
          <a:p>
            <a:pPr marL="457200" indent="-457200">
              <a:buAutoNum type="arabicPeriod"/>
            </a:pPr>
            <a:r>
              <a:rPr lang="en-US" sz="2400" dirty="0"/>
              <a:t>Fruits &amp; Vegetables and Snack Foods are top-selling categories</a:t>
            </a:r>
            <a:r>
              <a:rPr lang="en-US" sz="2400" dirty="0" smtClean="0"/>
              <a:t>.</a:t>
            </a:r>
          </a:p>
          <a:p>
            <a:pPr marL="457200" indent="-457200">
              <a:buAutoNum type="arabicPeriod"/>
            </a:pPr>
            <a:r>
              <a:rPr lang="en-US" sz="2400" dirty="0"/>
              <a:t>Customer ratings remain stable across outlet types.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310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Conclusion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  <a:p>
            <a:pPr marL="0" indent="0">
              <a:buNone/>
            </a:pPr>
            <a:endParaRPr lang="en-IN" sz="2400" b="1" dirty="0" smtClean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  <a:p>
            <a:pPr marL="0" indent="0">
              <a:buNone/>
            </a:pPr>
            <a:r>
              <a:rPr lang="en-US" sz="2400" dirty="0"/>
              <a:t>This dashboard helps identify high-performing outlets and products, enabling better business decisions and sales optimization.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323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225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  <vt:lpstr>Blinkit Analysis</vt:lpstr>
      <vt:lpstr>Blinkit Analysis</vt:lpstr>
      <vt:lpstr>Blinkit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LENOVO PC</cp:lastModifiedBy>
  <cp:revision>24</cp:revision>
  <dcterms:created xsi:type="dcterms:W3CDTF">2024-06-24T12:27:37Z</dcterms:created>
  <dcterms:modified xsi:type="dcterms:W3CDTF">2025-12-28T12:45:34Z</dcterms:modified>
</cp:coreProperties>
</file>